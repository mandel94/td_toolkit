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De Luzi" userId="c7c110bf-0f00-49a5-8307-a1237ef1d153" providerId="ADAL" clId="{51164B8D-BA6F-4BB3-877E-F31B4B653AEA}"/>
    <pc:docChg chg="modSld">
      <pc:chgData name="Manuel De Luzi" userId="c7c110bf-0f00-49a5-8307-a1237ef1d153" providerId="ADAL" clId="{51164B8D-BA6F-4BB3-877E-F31B4B653AEA}" dt="2026-01-14T12:54:09.168" v="3" actId="20577"/>
      <pc:docMkLst>
        <pc:docMk/>
      </pc:docMkLst>
      <pc:sldChg chg="modSp mod">
        <pc:chgData name="Manuel De Luzi" userId="c7c110bf-0f00-49a5-8307-a1237ef1d153" providerId="ADAL" clId="{51164B8D-BA6F-4BB3-877E-F31B4B653AEA}" dt="2026-01-14T12:54:09.168" v="3" actId="20577"/>
        <pc:sldMkLst>
          <pc:docMk/>
          <pc:sldMk cId="3662641218" sldId="256"/>
        </pc:sldMkLst>
        <pc:spChg chg="mod">
          <ac:chgData name="Manuel De Luzi" userId="c7c110bf-0f00-49a5-8307-a1237ef1d153" providerId="ADAL" clId="{51164B8D-BA6F-4BB3-877E-F31B4B653AEA}" dt="2026-01-14T12:54:09.168" v="3" actId="20577"/>
          <ac:spMkLst>
            <pc:docMk/>
            <pc:sldMk cId="3662641218" sldId="256"/>
            <ac:spMk id="6" creationId="{E1038AFB-1844-7497-4A70-848DC725565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uel.deluzi\OneDrive%20-%20Havas\Projects\personali\taxi_drivers\reports\ad_hoc_reports\arte%20tv\Analisi%20articoli%20arte%20tv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uel.deluzi\OneDrive%20-%20Havas\Projects\personali\taxi_drivers\reports\ad_hoc_reports\arte%20tv\Analisi%20articoli%20arte%20tv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'Engagement rate chart'!$B$1</c:f>
              <c:strCache>
                <c:ptCount val="1"/>
                <c:pt idx="0">
                  <c:v>Tasso di coinvolgimento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'Engagement rate chart'!$A$2:$A$6</c:f>
              <c:strCache>
                <c:ptCount val="5"/>
                <c:pt idx="0">
                  <c:v>Mataharis (2007), di Icíar Bollaín: Analisi</c:v>
                </c:pt>
                <c:pt idx="1">
                  <c:v>Nel cuore notturno di Barcellona: Il viaggio emotivo di Yo, la busco</c:v>
                </c:pt>
                <c:pt idx="2">
                  <c:v>Bodas de sangre: Un amore danzante scolpito nell’ombra</c:v>
                </c:pt>
                <c:pt idx="3">
                  <c:v>La comunidad: Intrigo all’ultimo piano, un film ancora attuale</c:v>
                </c:pt>
                <c:pt idx="4">
                  <c:v>Intervista a Olive Pere: Il valore artistico della critica nel panorama del cinema contemporaneo</c:v>
                </c:pt>
              </c:strCache>
            </c:strRef>
          </c:cat>
          <c:val>
            <c:numRef>
              <c:f>'Engagement rate chart'!$B$2:$B$6</c:f>
              <c:numCache>
                <c:formatCode>0%</c:formatCode>
                <c:ptCount val="5"/>
                <c:pt idx="0">
                  <c:v>0.30769230769230699</c:v>
                </c:pt>
                <c:pt idx="1">
                  <c:v>0.66666666666666596</c:v>
                </c:pt>
                <c:pt idx="2">
                  <c:v>0.7</c:v>
                </c:pt>
                <c:pt idx="3">
                  <c:v>0.70588235294117596</c:v>
                </c:pt>
                <c:pt idx="4">
                  <c:v>0.78333333333333299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C1-45CC-A875-8154358B0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99808864"/>
        <c:axId val="1999812224"/>
      </c:barChart>
      <c:catAx>
        <c:axId val="1999808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9812224"/>
        <c:crosses val="autoZero"/>
        <c:auto val="1"/>
        <c:lblAlgn val="ctr"/>
        <c:lblOffset val="100"/>
        <c:noMultiLvlLbl val="0"/>
      </c:catAx>
      <c:valAx>
        <c:axId val="1999812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9808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'Minutaggio chart'!$B$1</c:f>
              <c:strCache>
                <c:ptCount val="1"/>
                <c:pt idx="0">
                  <c:v>Minutaggio da ricerca Google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'Minutaggio chart'!$A$2:$A$6</c:f>
              <c:strCache>
                <c:ptCount val="5"/>
                <c:pt idx="0">
                  <c:v>Bodas de sangre: Un amore danzante scolpito nell’ombra</c:v>
                </c:pt>
                <c:pt idx="1">
                  <c:v>Mataharis (2007), di Icíar Bollaín: Analisi</c:v>
                </c:pt>
                <c:pt idx="2">
                  <c:v>La comunidad: Intrigo all’ultimo piano, un film ancora attuale</c:v>
                </c:pt>
                <c:pt idx="3">
                  <c:v>Nel cuore notturno di Barcellona: Il viaggio emotivo di Yo, la busco</c:v>
                </c:pt>
                <c:pt idx="4">
                  <c:v>Intervista a Olive Pere: Il valore artistico della critica nel panorama del cinema contemporaneo</c:v>
                </c:pt>
              </c:strCache>
            </c:strRef>
          </c:cat>
          <c:val>
            <c:numRef>
              <c:f>'Minutaggio chart'!$B$2:$B$6</c:f>
              <c:numCache>
                <c:formatCode>General"s"</c:formatCode>
                <c:ptCount val="5"/>
                <c:pt idx="0">
                  <c:v>46</c:v>
                </c:pt>
                <c:pt idx="1">
                  <c:v>59</c:v>
                </c:pt>
                <c:pt idx="2">
                  <c:v>65</c:v>
                </c:pt>
                <c:pt idx="3">
                  <c:v>93</c:v>
                </c:pt>
                <c:pt idx="4">
                  <c:v>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96-4FF8-926F-180CE794C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1152880"/>
        <c:axId val="71150000"/>
      </c:barChart>
      <c:catAx>
        <c:axId val="71152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50000"/>
        <c:crosses val="autoZero"/>
        <c:auto val="1"/>
        <c:lblAlgn val="ctr"/>
        <c:lblOffset val="100"/>
        <c:noMultiLvlLbl val="0"/>
      </c:catAx>
      <c:valAx>
        <c:axId val="71150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&quot;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5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CD8B-49C3-EFEB-7B43-00A7D47BE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4CA25-BEA5-2BD2-30CA-DC7ADDA98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CB89D-03E7-7BAA-929C-9CD77D1F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35A8-D2F9-2922-A96B-69768174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54F1D-128F-C0D2-098A-65DE8118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5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6925-54F9-2EFE-417E-FD99B2BA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2566-9860-1240-77E8-A39C9C162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3F51D-B1C3-9163-4B37-E6CCE113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84A0B-5D6E-6FF1-8019-2BFB07D4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349E-9C8A-02F9-B243-36368EE2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8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B988-7A18-8BAD-5428-FDF75B10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857EE-2C4A-6DE8-DDD8-29E80C4C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AFEF8-BAB6-E790-A986-BFACE1F9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334D3-010E-1011-F304-B453543E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43D9C-F005-9F08-5B5F-A8F84698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9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7256-2FE9-7B4E-3B6A-EBD0D305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9640F-8AF0-80E4-6538-C20B8E103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91A3B-2AF4-E9FE-ADA8-FBDBC8822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561E9-555D-1C60-6B4A-D09D7CCD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53A5A-FB49-9CF7-F2BB-0859A8CD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4C3B8-FBD5-12A2-693A-D5CE17FC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1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9A8E-2D88-6F85-67B1-AD0ED241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8BCF8-034B-21A9-8E7E-2F93D23E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BC785-A4E9-D7F8-278D-1A70CCBF0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7DFD5-CD09-193B-0CB8-0BE49687E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4F8CA-FC1A-5E08-627C-C4DABF3DD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EC740-CE81-6758-F4E5-E499A3F3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6F1E3-75B4-C6AC-6F41-87B264CF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DEACA-34AC-ACD0-73FD-273DE4B0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6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B84E-143A-808E-8C8D-2246478E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7D446-B81C-A67E-6EB3-FA717F74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34159-A1B3-6CA2-1216-99D4E167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42E7B-7184-F84F-A58D-06B1FA16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9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427BF-3A1B-06C9-9764-7922FCD0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776E6-3E6C-53F6-05A5-8039489B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C0B8D-F527-427E-AB1D-599CBDFF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5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7B40-F1F8-39BB-2542-55E632826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3408-7E8D-0F98-05EA-E0459187A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A9462-9007-32C9-F3C9-ED2AE6EDD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A982-A021-FB5D-AEA4-19CD2B5C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EA765-1361-66F6-05C1-4F79BDCB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BC6EA-6604-34E3-5B41-9B819D70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3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1A1C-8D17-29A8-265A-13B90A4D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6331F-F229-567A-E07F-2F86A968B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A3D3-9A27-16EE-90DB-A5B629C13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6352A-613C-9852-9BF8-F6EAE54D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85D7E-4EFB-FFD9-9A26-FEEC5C56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A5C1F-A308-86F5-9EB0-2169AB20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3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E29E-89FF-B8FE-70A7-3964DF72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454E8-70D8-32FE-A86C-BF241933E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38070-F714-87B8-EAA3-1C1EC4F6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87734-D5D3-BDD5-F9F0-CB7E2BDD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F0493-B2B7-03C5-91B3-02A6ABA9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5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D2FF2-7EDF-4883-A98D-04D264770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D078D-3FED-A65B-60A2-1C60BF9A3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88D0B-1A5A-F587-E7E2-D1818659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DB4E3-C69E-0992-7552-5CE3BB4B7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A89F1-717B-6047-D345-C3686AE5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1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86B1F-1A8B-AF8F-18B6-D18B49F4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0029-324B-0212-FEEE-0F0798A16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17AC-92F1-3C8D-8625-14F5A804D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D4E2E-8ECB-4BFA-8B56-11DB7EFF998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B2647-8FCE-AD92-6611-94BC06C31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3941E-C311-C759-B3F9-31EBDECEB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8DD7A-B6B1-4721-94B3-0718B4BA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BE1FCA8-002B-47B9-C6AE-6C86743127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113860"/>
              </p:ext>
            </p:extLst>
          </p:nvPr>
        </p:nvGraphicFramePr>
        <p:xfrm>
          <a:off x="1610400" y="753089"/>
          <a:ext cx="8676231" cy="4025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038AFB-1844-7497-4A70-848DC725565E}"/>
              </a:ext>
            </a:extLst>
          </p:cNvPr>
          <p:cNvSpPr txBox="1"/>
          <p:nvPr/>
        </p:nvSpPr>
        <p:spPr>
          <a:xfrm>
            <a:off x="1543665" y="5368413"/>
            <a:ext cx="8760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Gli articoli in analisi hanno portato ad alto engagement sul sito, con traffico di qualità che ha interagito col contenuto. L’ intervista a Olive Pere si è rivelata essere la formula migliore, con tassi di ingaggio che hanno sfiorato l’80%. Questo significa che il sito è in grado di fornire una copertura di qualità dei contenuti di Arte TV.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4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E4A3A-A03B-1C8A-AB1A-AD8C5265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0534A4D-AEED-8B21-BF72-C95FFDFF2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96650"/>
              </p:ext>
            </p:extLst>
          </p:nvPr>
        </p:nvGraphicFramePr>
        <p:xfrm>
          <a:off x="2470381" y="322844"/>
          <a:ext cx="7086574" cy="4418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6C98E4-AABD-4008-53D6-E885E158CFF1}"/>
              </a:ext>
            </a:extLst>
          </p:cNvPr>
          <p:cNvSpPr txBox="1"/>
          <p:nvPr/>
        </p:nvSpPr>
        <p:spPr>
          <a:xfrm>
            <a:off x="1543665" y="5368413"/>
            <a:ext cx="8760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 numeri da ricerca Google si rivelano essere quelli con minutaggio medio più alto. Il grafico in alto conferma che l’Intervista è stato il format di maggior successo, finestra d’accesso a un pubblico che è interessato ad approfondire contenuti di qualità.</a:t>
            </a:r>
          </a:p>
        </p:txBody>
      </p:sp>
    </p:spTree>
    <p:extLst>
      <p:ext uri="{BB962C8B-B14F-4D97-AF65-F5344CB8AC3E}">
        <p14:creationId xmlns:p14="http://schemas.microsoft.com/office/powerpoint/2010/main" val="337106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De Luzi</dc:creator>
  <cp:lastModifiedBy>Manuel De Luzi</cp:lastModifiedBy>
  <cp:revision>1</cp:revision>
  <dcterms:created xsi:type="dcterms:W3CDTF">2026-01-14T12:34:49Z</dcterms:created>
  <dcterms:modified xsi:type="dcterms:W3CDTF">2026-01-14T12:54:15Z</dcterms:modified>
</cp:coreProperties>
</file>